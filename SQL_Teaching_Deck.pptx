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Employees</c:v>
                </c:pt>
              </c:strCache>
            </c:strRef>
          </c:tx>
          <c:spPr>
            <a:solidFill>
              <a:srgbClr val="F2A54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254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High</c:v>
                  </c:pt>
                  <c:pt idx="1">
                    <c:v>Medium</c:v>
                  </c:pt>
                  <c:pt idx="2">
                    <c:v>Entry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B254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CE4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Salary</c:v>
                </c:pt>
              </c:strCache>
            </c:strRef>
          </c:tx>
          <c:spPr>
            <a:solidFill>
              <a:srgbClr val="1FBF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B254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Priya Nair</c:v>
                  </c:pt>
                  <c:pt idx="1">
                    <c:v>Arjun Rao</c:v>
                  </c:pt>
                  <c:pt idx="2">
                    <c:v>Vikram Singh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88000</c:v>
                </c:pt>
                <c:pt idx="1">
                  <c:v>95000</c:v>
                </c:pt>
                <c:pt idx="2">
                  <c:v>102000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B254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B254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Running total ($)</c:v>
                </c:pt>
              </c:strCache>
            </c:strRef>
          </c:tx>
          <c:spPr>
            <a:solidFill>
              <a:srgbClr val="F2A541"/>
            </a:solidFill>
            <a:ln w="31750" cap="flat">
              <a:solidFill>
                <a:srgbClr val="F2A54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545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2A541"/>
              </a:solidFill>
              <a:ln w="9525" cap="flat">
                <a:solidFill>
                  <a:srgbClr val="F2A54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12000</c:v>
                </c:pt>
                <c:pt idx="1">
                  <c:v>27000</c:v>
                </c:pt>
                <c:pt idx="2">
                  <c:v>36000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B2545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822960"/>
            <a:ext cx="2834640" cy="3108960"/>
          </a:xfrm>
          <a:prstGeom prst="roundRect">
            <a:avLst>
              <a:gd name="adj" fmla="val 3871"/>
            </a:avLst>
          </a:prstGeom>
          <a:solidFill>
            <a:srgbClr val="13315C"/>
          </a:solidFill>
          <a:ln w="12700">
            <a:solidFill>
              <a:srgbClr val="1FBF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06840" y="1051560"/>
            <a:ext cx="128016" cy="128016"/>
          </a:xfrm>
          <a:prstGeom prst="ellipse">
            <a:avLst/>
          </a:prstGeom>
          <a:solidFill>
            <a:srgbClr val="1FBFB8"/>
          </a:solidFill>
          <a:ln/>
        </p:spPr>
      </p:sp>
      <p:sp>
        <p:nvSpPr>
          <p:cNvPr id="5" name="Shape 3"/>
          <p:cNvSpPr/>
          <p:nvPr/>
        </p:nvSpPr>
        <p:spPr>
          <a:xfrm>
            <a:off x="9244584" y="1051560"/>
            <a:ext cx="128016" cy="12801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6" name="Shape 4"/>
          <p:cNvSpPr/>
          <p:nvPr/>
        </p:nvSpPr>
        <p:spPr>
          <a:xfrm>
            <a:off x="9482328" y="1051560"/>
            <a:ext cx="128016" cy="128016"/>
          </a:xfrm>
          <a:prstGeom prst="ellipse">
            <a:avLst/>
          </a:prstGeom>
          <a:solidFill>
            <a:srgbClr val="9FE8CF"/>
          </a:solidFill>
          <a:ln/>
        </p:spPr>
      </p:sp>
      <p:sp>
        <p:nvSpPr>
          <p:cNvPr id="7" name="Text 5"/>
          <p:cNvSpPr/>
          <p:nvPr/>
        </p:nvSpPr>
        <p:spPr>
          <a:xfrm>
            <a:off x="9006840" y="141732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F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skill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F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analyst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F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mindset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F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curiosity;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FB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· DEMO TEACHING ROUND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8288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for Real Analysis: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640080" y="25146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BF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Joins, CASE WHEN &amp; Window Functions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40080" y="342900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beginner-friendly, hands-on session: from first-principles intuition to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and interpreting real queries on one shared dataset.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434840"/>
            <a:ext cx="3108960" cy="0"/>
          </a:xfrm>
          <a:prstGeom prst="line">
            <a:avLst/>
          </a:prstGeom>
          <a:noFill/>
          <a:ln w="25400">
            <a:solidFill>
              <a:srgbClr val="1FBF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617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45–60 min   |   Tools: SQL · Sample Dataset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SQL?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Query Language — the standard way to store, retrieve, and manage data in a database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1691640"/>
          </a:xfrm>
          <a:prstGeom prst="roundRect">
            <a:avLst>
              <a:gd name="adj" fmla="val 4324"/>
            </a:avLst>
          </a:prstGeom>
          <a:solidFill>
            <a:srgbClr val="0B2545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691640"/>
            <a:ext cx="100584" cy="100584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691640"/>
            <a:ext cx="100584" cy="100584"/>
          </a:xfrm>
          <a:prstGeom prst="ellipse">
            <a:avLst/>
          </a:prstGeom>
          <a:solidFill>
            <a:srgbClr val="1FBFB8"/>
          </a:solidFill>
          <a:ln/>
        </p:spPr>
      </p:sp>
      <p:sp>
        <p:nvSpPr>
          <p:cNvPr id="7" name="Shape 5"/>
          <p:cNvSpPr/>
          <p:nvPr/>
        </p:nvSpPr>
        <p:spPr>
          <a:xfrm>
            <a:off x="1115568" y="1691640"/>
            <a:ext cx="100584" cy="100584"/>
          </a:xfrm>
          <a:prstGeom prst="ellipse">
            <a:avLst/>
          </a:prstGeom>
          <a:solidFill>
            <a:srgbClr val="9FE8C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938528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F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Instead of scrolling millions of Excel rows...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F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Employee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F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Department = 'HR' AND Salary &gt; 50000;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F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→ answer in milliseconds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55448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EAF6F5"/>
          </a:solidFill>
          <a:ln w="12700">
            <a:solidFill>
              <a:srgbClr val="1FBF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673352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SQL?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92240" y="1993392"/>
            <a:ext cx="4892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 standard language nearly every database (MySQL, Postgres, SQL Server…) understands.</a:t>
            </a:r>
            <a:endParaRPr lang="en-US" sz="1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describe WHAT you want — the database figures out how to fetch it, fast.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429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Types of SQL Commands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379476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664208" y="37947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315968" y="37947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150608" y="3794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233672"/>
            <a:ext cx="11064240" cy="0"/>
          </a:xfrm>
          <a:prstGeom prst="line">
            <a:avLst/>
          </a:prstGeom>
          <a:noFill/>
          <a:ln w="12700">
            <a:solidFill>
              <a:srgbClr val="DCE4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25196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DDL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64208" y="4251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Definition Language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15968" y="42519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ALTER, DROP, TRUNCATE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150608" y="4251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/ change table structure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470916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DML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664208" y="47091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 Language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315968" y="47091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INSERT, UPDATE, DELETE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150608" y="47091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edit / remove data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2920" y="5138928"/>
            <a:ext cx="11155680" cy="512064"/>
          </a:xfrm>
          <a:prstGeom prst="roundRect">
            <a:avLst>
              <a:gd name="adj" fmla="val 7143"/>
            </a:avLst>
          </a:prstGeom>
          <a:solidFill>
            <a:srgbClr val="FEF3E2"/>
          </a:solidFill>
          <a:ln w="15875">
            <a:solidFill>
              <a:srgbClr val="F2A54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516636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BF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DQL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664208" y="51663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Query Language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315968" y="51663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150608" y="51663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— read data (today's focus)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562356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664208" y="5623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Control Language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315968" y="56235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GRANT, REVOKE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150608" y="56235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who can do what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8640" y="608076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9D3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TCL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664208" y="60807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Control Language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315968" y="60807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COMMIT, ROLLBACK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150608" y="6080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or undo a batch of changes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SQL?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Roadmap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dataset throughout — so every new concept builds on one shared mental model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64792"/>
            <a:ext cx="512064" cy="512064"/>
          </a:xfrm>
          <a:prstGeom prst="ellipse">
            <a:avLst/>
          </a:prstGeom>
          <a:solidFill>
            <a:srgbClr val="1FBFB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647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691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the Dataset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2039112"/>
            <a:ext cx="9875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+ sales — the two tables we'll use for every demo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1106424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724912"/>
            <a:ext cx="512064" cy="512064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72491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08760" y="26517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2999232"/>
            <a:ext cx="9875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tables: INNER, LEFT, RIGHT, FULL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520440"/>
            <a:ext cx="1106424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685032"/>
            <a:ext cx="512064" cy="512064"/>
          </a:xfrm>
          <a:prstGeom prst="ellipse">
            <a:avLst/>
          </a:prstGeom>
          <a:solidFill>
            <a:srgbClr val="1FBFB8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68503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3611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WHEN + Aggregation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08760" y="3959352"/>
            <a:ext cx="9875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If/else logic that powers real business summaries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480560"/>
            <a:ext cx="1106424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645152"/>
            <a:ext cx="512064" cy="512064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6451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08760" y="45720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08760" y="4919472"/>
            <a:ext cx="9875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Ranking, LEAD/LAG, running totals — without collapsing rows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440680"/>
            <a:ext cx="1106424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5605272"/>
            <a:ext cx="512064" cy="512064"/>
          </a:xfrm>
          <a:prstGeom prst="ellipse">
            <a:avLst/>
          </a:prstGeom>
          <a:solidFill>
            <a:srgbClr val="1FBFB8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60527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508760" y="55321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&amp; Key Takeaways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508760" y="5879592"/>
            <a:ext cx="9875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reach for each tool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for Real Analysis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the Dataset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employees table + one sales table — used for every demo in this session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4924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45920"/>
            <a:ext cx="5349240" cy="502920"/>
          </a:xfrm>
          <a:prstGeom prst="roundRect">
            <a:avLst>
              <a:gd name="adj" fmla="val 18182"/>
            </a:avLst>
          </a:prstGeom>
          <a:solidFill>
            <a:srgbClr val="0B254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4592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BF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331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emp_id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91840" y="2331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(PK)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73405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emp_name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91840" y="273405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313639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department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313639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353872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salary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353872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394106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join_date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91840" y="394106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46634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employees across Sales, Marketing, Engineering, HR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63640" y="1645920"/>
            <a:ext cx="534924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1645920"/>
            <a:ext cx="5349240" cy="502920"/>
          </a:xfrm>
          <a:prstGeom prst="roundRect">
            <a:avLst>
              <a:gd name="adj" fmla="val 18182"/>
            </a:avLst>
          </a:prstGeom>
          <a:solidFill>
            <a:srgbClr val="0B2545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164592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83680" y="2331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sale_id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006840" y="2331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(PK)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83680" y="273405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emp_id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006840" y="273405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(FK)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83680" y="313639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006840" y="313639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83680" y="353872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sale_amount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006840" y="353872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83680" y="394106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sale_date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006840" y="394106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37960" y="466344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sale records. On purpose: 2 employees (HR) have no sales, and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sale references an emp_id that doesn't exist — perfect for JOIN demos.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for Real Analysis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754880"/>
            <a:ext cx="2926080" cy="292608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10312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9000" dirty="0"/>
          </a:p>
        </p:txBody>
      </p:sp>
      <p:sp>
        <p:nvSpPr>
          <p:cNvPr id="5" name="Shape 3"/>
          <p:cNvSpPr/>
          <p:nvPr/>
        </p:nvSpPr>
        <p:spPr>
          <a:xfrm>
            <a:off x="685800" y="1965960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1FBFB8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96596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370332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two tables into one meaningful result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We Need JOINS?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data is normalized into separate tables — JOINS let you ask questions that span both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57800" cy="4617720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problem, without JOINs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lives in one table, sales in another — that's normal, healthy database design (no duplicated data).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a manager doesn't ask for tables — they ask a question that needs BOTH: “What did each employee sell?”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37033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benefit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406908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stitch related tables together on a shared key (emp_id) — no data duplication, no manual copy-paste.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join types answer different real questions — that's the whole reason four types exist.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5257800"/>
            <a:ext cx="4754880" cy="822960"/>
          </a:xfrm>
          <a:prstGeom prst="roundRect">
            <a:avLst>
              <a:gd name="adj" fmla="val 8889"/>
            </a:avLst>
          </a:prstGeom>
          <a:solidFill>
            <a:srgbClr val="EAF6F5"/>
          </a:solidFill>
          <a:ln w="12700">
            <a:solidFill>
              <a:srgbClr val="1FBF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525780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 “Show me every employee AND their total sales, including staff who haven’t sold anything yet.”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25896" y="1545336"/>
            <a:ext cx="2852928" cy="1925815"/>
          </a:xfrm>
          <a:prstGeom prst="roundRect">
            <a:avLst>
              <a:gd name="adj" fmla="val 2849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pic>
        <p:nvPicPr>
          <p:cNvPr id="12" name="Image 0" descr="/home/claude/sql_ppt/venn_in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0" y="1600200"/>
            <a:ext cx="2743200" cy="1816087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8997696" y="1545336"/>
            <a:ext cx="2852928" cy="1925815"/>
          </a:xfrm>
          <a:prstGeom prst="roundRect">
            <a:avLst>
              <a:gd name="adj" fmla="val 2849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pic>
        <p:nvPicPr>
          <p:cNvPr id="14" name="Image 1" descr="/home/claude/sql_ppt/venn_lef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1600200"/>
            <a:ext cx="2743200" cy="1816087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025896" y="3544303"/>
            <a:ext cx="2852928" cy="1925815"/>
          </a:xfrm>
          <a:prstGeom prst="roundRect">
            <a:avLst>
              <a:gd name="adj" fmla="val 2849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pic>
        <p:nvPicPr>
          <p:cNvPr id="16" name="Image 2" descr="/home/claude/sql_ppt/venn_r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3599167"/>
            <a:ext cx="2743200" cy="1816087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8997696" y="3544303"/>
            <a:ext cx="2852928" cy="1925815"/>
          </a:xfrm>
          <a:prstGeom prst="roundRect">
            <a:avLst>
              <a:gd name="adj" fmla="val 2849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pic>
        <p:nvPicPr>
          <p:cNvPr id="18" name="Image 3" descr="/home/claude/sql_ppt/venn_ful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0" y="3599167"/>
            <a:ext cx="2743200" cy="181608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A · Joins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Joins: The Intuition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JOIN links rows from two tables using a shared key — here, emp_id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463040" y="1920240"/>
            <a:ext cx="2743200" cy="2743200"/>
          </a:xfrm>
          <a:prstGeom prst="ellipse">
            <a:avLst/>
          </a:prstGeom>
          <a:solidFill>
            <a:srgbClr val="1FBFB8">
              <a:alpha val="45000"/>
            </a:srgbClr>
          </a:solidFill>
          <a:ln w="25400">
            <a:solidFill>
              <a:srgbClr val="1FBF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08960" y="1920240"/>
            <a:ext cx="2743200" cy="2743200"/>
          </a:xfrm>
          <a:prstGeom prst="ellipse">
            <a:avLst/>
          </a:prstGeom>
          <a:solidFill>
            <a:srgbClr val="F2A541">
              <a:alpha val="45000"/>
            </a:srgbClr>
          </a:solidFill>
          <a:ln w="25400">
            <a:solidFill>
              <a:srgbClr val="F2A5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463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566160" y="1463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514600" y="29718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emp_id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0" y="1691640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691640"/>
            <a:ext cx="109728" cy="868680"/>
          </a:xfrm>
          <a:prstGeom prst="roundRect">
            <a:avLst/>
          </a:prstGeom>
          <a:solidFill>
            <a:srgbClr val="1FBFB8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76479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583680" y="21031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overlap — rows that match in BOTH tables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09360" y="2715768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2715768"/>
            <a:ext cx="109728" cy="868680"/>
          </a:xfrm>
          <a:prstGeom prst="roundRect">
            <a:avLst/>
          </a:prstGeom>
          <a:solidFill>
            <a:srgbClr val="F2A541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27889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583680" y="312724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on the left + matches from the right (NULLs if no match)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309360" y="3739896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3739896"/>
            <a:ext cx="109728" cy="868680"/>
          </a:xfrm>
          <a:prstGeom prst="roundRect">
            <a:avLst/>
          </a:prstGeom>
          <a:solidFill>
            <a:srgbClr val="1FBFB8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381304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JOIN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583680" y="4151376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 of LEFT — everything on the right + left matches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309360" y="4764024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9360" y="4764024"/>
            <a:ext cx="109728" cy="868680"/>
          </a:xfrm>
          <a:prstGeom prst="roundRect">
            <a:avLst/>
          </a:prstGeom>
          <a:solidFill>
            <a:srgbClr val="F2A541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4837176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OUTER JOIN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583680" y="5175504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from both sides, matched or not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A · Joins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 Syntax at a Glance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shape every time: pick the join type, then say what the keys must match 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0B2545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737360"/>
            <a:ext cx="100584" cy="100584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737360"/>
            <a:ext cx="100584" cy="100584"/>
          </a:xfrm>
          <a:prstGeom prst="ellipse">
            <a:avLst/>
          </a:prstGeom>
          <a:solidFill>
            <a:srgbClr val="1FBFB8"/>
          </a:solidFill>
          <a:ln/>
        </p:spPr>
      </p:sp>
      <p:sp>
        <p:nvSpPr>
          <p:cNvPr id="7" name="Shape 5"/>
          <p:cNvSpPr/>
          <p:nvPr/>
        </p:nvSpPr>
        <p:spPr>
          <a:xfrm>
            <a:off x="1115568" y="1737360"/>
            <a:ext cx="100584" cy="100584"/>
          </a:xfrm>
          <a:prstGeom prst="ellipse">
            <a:avLst/>
          </a:prstGeom>
          <a:solidFill>
            <a:srgbClr val="9FE8C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984248"/>
            <a:ext cx="106070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F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e.emp_name, s.region, s.sale_amount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F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  employees e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F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&lt;JOIN_TYPE&gt; JOIN sales s ON e.emp_id = s.emp_id;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42900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429000"/>
            <a:ext cx="2606040" cy="502920"/>
          </a:xfrm>
          <a:prstGeom prst="roundRect">
            <a:avLst>
              <a:gd name="adj" fmla="val 18182"/>
            </a:avLst>
          </a:prstGeom>
          <a:solidFill>
            <a:srgbClr val="1FBFB8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3429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 JOIN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85800" y="411480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matches only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337560" y="342900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37560" y="3429000"/>
            <a:ext cx="2606040" cy="502920"/>
          </a:xfrm>
          <a:prstGeom prst="roundRect">
            <a:avLst>
              <a:gd name="adj" fmla="val 18182"/>
            </a:avLst>
          </a:prstGeom>
          <a:solidFill>
            <a:srgbClr val="F2A541"/>
          </a:solidFill>
          <a:ln/>
        </p:spPr>
      </p:sp>
      <p:sp>
        <p:nvSpPr>
          <p:cNvPr id="15" name="Text 13"/>
          <p:cNvSpPr/>
          <p:nvPr/>
        </p:nvSpPr>
        <p:spPr>
          <a:xfrm>
            <a:off x="3447288" y="3429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474720" y="411480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all of employees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26480" y="342900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3429000"/>
            <a:ext cx="2606040" cy="502920"/>
          </a:xfrm>
          <a:prstGeom prst="roundRect">
            <a:avLst>
              <a:gd name="adj" fmla="val 18182"/>
            </a:avLst>
          </a:prstGeom>
          <a:solidFill>
            <a:srgbClr val="1FBFB8"/>
          </a:solidFill>
          <a:ln/>
        </p:spPr>
      </p:sp>
      <p:sp>
        <p:nvSpPr>
          <p:cNvPr id="19" name="Text 17"/>
          <p:cNvSpPr/>
          <p:nvPr/>
        </p:nvSpPr>
        <p:spPr>
          <a:xfrm>
            <a:off x="6236208" y="3429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 JOIN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263640" y="411480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all of sales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915400" y="342900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15400" y="3429000"/>
            <a:ext cx="2606040" cy="502920"/>
          </a:xfrm>
          <a:prstGeom prst="roundRect">
            <a:avLst>
              <a:gd name="adj" fmla="val 18182"/>
            </a:avLst>
          </a:prstGeom>
          <a:solidFill>
            <a:srgbClr val="F2A541"/>
          </a:solidFill>
          <a:ln/>
        </p:spPr>
      </p:sp>
      <p:sp>
        <p:nvSpPr>
          <p:cNvPr id="23" name="Text 21"/>
          <p:cNvSpPr/>
          <p:nvPr/>
        </p:nvSpPr>
        <p:spPr>
          <a:xfrm>
            <a:off x="9025128" y="3429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OUTER JOIN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052560" y="411480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everything, both sides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A · Joins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Demo: Finding Employees With No Sales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classic real-world ask — solved with a LEFT JOIN + IS NULL filter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2331720"/>
          </a:xfrm>
          <a:prstGeom prst="roundRect">
            <a:avLst>
              <a:gd name="adj" fmla="val 3137"/>
            </a:avLst>
          </a:prstGeom>
          <a:solidFill>
            <a:srgbClr val="0B2545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737360"/>
            <a:ext cx="100584" cy="100584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737360"/>
            <a:ext cx="100584" cy="100584"/>
          </a:xfrm>
          <a:prstGeom prst="ellipse">
            <a:avLst/>
          </a:prstGeom>
          <a:solidFill>
            <a:srgbClr val="1FBFB8"/>
          </a:solidFill>
          <a:ln/>
        </p:spPr>
      </p:sp>
      <p:sp>
        <p:nvSpPr>
          <p:cNvPr id="7" name="Shape 5"/>
          <p:cNvSpPr/>
          <p:nvPr/>
        </p:nvSpPr>
        <p:spPr>
          <a:xfrm>
            <a:off x="1115568" y="1737360"/>
            <a:ext cx="100584" cy="100584"/>
          </a:xfrm>
          <a:prstGeom prst="ellipse">
            <a:avLst/>
          </a:prstGeom>
          <a:solidFill>
            <a:srgbClr val="9FE8C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984248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F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e.emp_name, e.department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F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  employees 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F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sales s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F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ON e.emp_id = s.emp_id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F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 s.sale_id IS NULL;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691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2057400"/>
          <a:ext cx="48920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2402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emp_name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Ishaan Gupta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Meera Pillai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548640" y="4160520"/>
            <a:ext cx="11064240" cy="1691640"/>
          </a:xfrm>
          <a:prstGeom prst="roundRect">
            <a:avLst>
              <a:gd name="adj" fmla="val 5405"/>
            </a:avLst>
          </a:prstGeom>
          <a:solidFill>
            <a:srgbClr val="EAF6F5"/>
          </a:solidFill>
          <a:ln w="12700">
            <a:solidFill>
              <a:srgbClr val="1FBFB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7240" y="42976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interpret this: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77240" y="4645152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 keeps every employee row, filling in NULL for sales columns when there's no match.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WHERE s.sale_id IS NULL isolates exactly the rows that had no match — i.e., no sales.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takeaway: HR has two employees with zero recorded sales — worth flagging to a manager.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A · Joins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754880"/>
            <a:ext cx="2926080" cy="292608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10312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9000" dirty="0"/>
          </a:p>
        </p:txBody>
      </p:sp>
      <p:sp>
        <p:nvSpPr>
          <p:cNvPr id="5" name="Shape 3"/>
          <p:cNvSpPr/>
          <p:nvPr/>
        </p:nvSpPr>
        <p:spPr>
          <a:xfrm>
            <a:off x="685800" y="1965960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96596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B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WHEN + Aggregation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370332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if/else logic into business summaries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We Need CASE WHEN?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numbers don't mean anything to a business user — CASE WHEN turns values into labels people act 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2860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47088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$102,000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441448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value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926080" y="1737360"/>
            <a:ext cx="502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429000" y="1737360"/>
            <a:ext cx="2286000" cy="1051560"/>
          </a:xfrm>
          <a:prstGeom prst="roundRect">
            <a:avLst>
              <a:gd name="adj" fmla="val 8696"/>
            </a:avLst>
          </a:prstGeom>
          <a:solidFill>
            <a:srgbClr val="0B2545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1847088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BF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WHEN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BF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salary &gt;= 90000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20440" y="2441448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else logic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715000" y="1737360"/>
            <a:ext cx="502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217920" y="1737360"/>
            <a:ext cx="2286000" cy="1051560"/>
          </a:xfrm>
          <a:prstGeom prst="roundRect">
            <a:avLst>
              <a:gd name="adj" fmla="val 8696"/>
            </a:avLst>
          </a:prstGeom>
          <a:solidFill>
            <a:srgbClr val="F2A541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847088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“High Earner”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09360" y="2441448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label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0080" y="31546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benefit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" y="352044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raw numbers into categories stakeholders instantly understand — no separate spreadsheet step.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with aggregation, it becomes a summary a manager can act on in seconds.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5074920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FEF3E2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074920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 customer tiers, risk flags, age brackets, salary bands — any time a number needs to become a decision.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355080" y="3154680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once aggregated — a summary you can act on:</a:t>
            </a:r>
            <a:endParaRPr lang="en-US" sz="125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6355080" y="3520440"/>
          <a:ext cx="525780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B · CASE WHEN + Aggregation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WHEN: The Intuition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just if / else logic — evaluated for every row, top to bottom, first match wins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2468880"/>
          </a:xfrm>
          <a:prstGeom prst="roundRect">
            <a:avLst>
              <a:gd name="adj" fmla="val 2963"/>
            </a:avLst>
          </a:prstGeom>
          <a:solidFill>
            <a:srgbClr val="0B2545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737360"/>
            <a:ext cx="100584" cy="100584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737360"/>
            <a:ext cx="100584" cy="100584"/>
          </a:xfrm>
          <a:prstGeom prst="ellipse">
            <a:avLst/>
          </a:prstGeom>
          <a:solidFill>
            <a:srgbClr val="1FBFB8"/>
          </a:solidFill>
          <a:ln/>
        </p:spPr>
      </p:sp>
      <p:sp>
        <p:nvSpPr>
          <p:cNvPr id="7" name="Shape 5"/>
          <p:cNvSpPr/>
          <p:nvPr/>
        </p:nvSpPr>
        <p:spPr>
          <a:xfrm>
            <a:off x="1115568" y="1737360"/>
            <a:ext cx="100584" cy="100584"/>
          </a:xfrm>
          <a:prstGeom prst="ellipse">
            <a:avLst/>
          </a:prstGeom>
          <a:solidFill>
            <a:srgbClr val="9FE8C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984248"/>
            <a:ext cx="502920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F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F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WHEN salary &gt;= 90000 THEN 'High'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F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WHEN salary &gt;= 60000 THEN 'Medium'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F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ELSE 'Entry'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F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AS salary_band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34924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7190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result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2084832"/>
          <a:ext cx="489204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1280160"/>
                <a:gridCol w="164592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emp_name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salary_band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Vikram Singh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Neha Verma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Kavya Iyer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548640" y="434340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FEF3E2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7240" y="446227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for analysts: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77240" y="480060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are checked top-to-bottom — put the most specific condition first.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itself, CASE WHEN labels each row. Its real power shows up once we aggregate by that label — next slide.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B · CASE WHEN + Aggregation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Demo: Conditional Aggregation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"Pivot-style" summary — count High/Mid/Entry earners side by side, per department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2148840"/>
          </a:xfrm>
          <a:prstGeom prst="roundRect">
            <a:avLst>
              <a:gd name="adj" fmla="val 3404"/>
            </a:avLst>
          </a:prstGeom>
          <a:solidFill>
            <a:srgbClr val="0B2545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737360"/>
            <a:ext cx="100584" cy="100584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737360"/>
            <a:ext cx="100584" cy="100584"/>
          </a:xfrm>
          <a:prstGeom prst="ellipse">
            <a:avLst/>
          </a:prstGeom>
          <a:solidFill>
            <a:srgbClr val="1FBFB8"/>
          </a:solidFill>
          <a:ln/>
        </p:spPr>
      </p:sp>
      <p:sp>
        <p:nvSpPr>
          <p:cNvPr id="7" name="Shape 5"/>
          <p:cNvSpPr/>
          <p:nvPr/>
        </p:nvSpPr>
        <p:spPr>
          <a:xfrm>
            <a:off x="1115568" y="1737360"/>
            <a:ext cx="100584" cy="100584"/>
          </a:xfrm>
          <a:prstGeom prst="ellipse">
            <a:avLst/>
          </a:prstGeom>
          <a:solidFill>
            <a:srgbClr val="9FE8C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984248"/>
            <a:ext cx="10607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F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department,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F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COUNT(CASE WHEN salary &gt;= 90000 THEN 1 END)                    AS high_earners,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F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COUNT(CASE WHEN salary &gt;= 60000 AND salary &lt; 90000 THEN 1 END) AS mid_earners,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F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COUNT(CASE WHEN salary &lt; 60000 THEN 1 END)                    AS entry_earners,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F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ROUND(AVG(salary), 0) AS avg_salary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F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employees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F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department;</a:t>
            </a:r>
            <a:endParaRPr lang="en-US" sz="12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77640"/>
          <a:ext cx="1106424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965960"/>
                <a:gridCol w="1965960"/>
                <a:gridCol w="1965960"/>
                <a:gridCol w="19659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high_earners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mid_earners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entry_earners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avg_salary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64,500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562356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EF3E2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562356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Engineering skews High/Medium; HR and Sales lean Entry-level — a one-glance view a manager can act on.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B · CASE WHEN + Aggregation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754880"/>
            <a:ext cx="2926080" cy="292608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10312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9000" dirty="0"/>
          </a:p>
        </p:txBody>
      </p:sp>
      <p:sp>
        <p:nvSpPr>
          <p:cNvPr id="5" name="Shape 3"/>
          <p:cNvSpPr/>
          <p:nvPr/>
        </p:nvSpPr>
        <p:spPr>
          <a:xfrm>
            <a:off x="685800" y="1965960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1FBFB8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96596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C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 Functions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370332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Calculating across related rows — without collapsing them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We Need Window Functions?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questions need row-level detail AND group context at the same time — GROUP BY forces you to pick one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57800" cy="4617720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problem, with only GROUP BY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can tell you the department average — but it erases every individual employee row to do it.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“Who is #1 in each department?” or “what's the running total over time?” simply can't be answered after rows collapse.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36576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benefit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402336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 calculate ACROSS a group of rows while keeping every row visible — ranking, comparisons, and running totals in one pass.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self-joins, no subqueries just to compare a row to its neighbors or its peer group.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5257800"/>
            <a:ext cx="4754880" cy="822960"/>
          </a:xfrm>
          <a:prstGeom prst="roundRect">
            <a:avLst>
              <a:gd name="adj" fmla="val 8889"/>
            </a:avLst>
          </a:prstGeom>
          <a:solidFill>
            <a:srgbClr val="EAF6F5"/>
          </a:solidFill>
          <a:ln w="12700">
            <a:solidFill>
              <a:srgbClr val="1FBF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525780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 leaderboards, top-N per category, month-over-month change, running totals — all without collapsing the detail.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080760" y="1737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without losing rows (RANK)</a:t>
            </a:r>
            <a:endParaRPr lang="en-US" sz="125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6080760" y="2103120"/>
          <a:ext cx="553212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/>
          <p:nvPr/>
        </p:nvSpPr>
        <p:spPr>
          <a:xfrm>
            <a:off x="6080760" y="42976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cumulative change (running total)</a:t>
            </a:r>
            <a:endParaRPr lang="en-US" sz="1250" dirty="0"/>
          </a:p>
        </p:txBody>
      </p:sp>
      <p:graphicFrame>
        <p:nvGraphicFramePr>
          <p:cNvPr id="14" name="Chart 1" descr=""/>
          <p:cNvGraphicFramePr/>
          <p:nvPr/>
        </p:nvGraphicFramePr>
        <p:xfrm>
          <a:off x="6080760" y="4663440"/>
          <a:ext cx="5532120" cy="1508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C · Window Functions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 Functions: The Intuition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collapses rows into a summary. A window function keeps every row AND adds context.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department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240280"/>
          <a:ext cx="484632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avg_salary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42900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collapse — individual employees disappear.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63640" y="164592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9050">
            <a:solidFill>
              <a:srgbClr val="1FBFB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92240" y="17830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AVG(salary) OVER (PARTITION BY department)</a:t>
            </a:r>
            <a:endParaRPr lang="en-US" sz="115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2331720"/>
          <a:ext cx="489204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005840"/>
                <a:gridCol w="118872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emp_name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dept_avg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Vikram Singh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Arjun Rao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 Nair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6492240" y="3703320"/>
            <a:ext cx="4892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i="1" dirty="0">
                <a:solidFill>
                  <a:srgbClr val="1FB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employee row survives — now compare each person to their peer group.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C · Window Functions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Ranking Within Groups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RANK, DENSE_RANK, ROW_NUMBER — same idea, different tie-breaking rules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0B2545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737360"/>
            <a:ext cx="100584" cy="100584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737360"/>
            <a:ext cx="100584" cy="100584"/>
          </a:xfrm>
          <a:prstGeom prst="ellipse">
            <a:avLst/>
          </a:prstGeom>
          <a:solidFill>
            <a:srgbClr val="1FBFB8"/>
          </a:solidFill>
          <a:ln/>
        </p:spPr>
      </p:sp>
      <p:sp>
        <p:nvSpPr>
          <p:cNvPr id="7" name="Shape 5"/>
          <p:cNvSpPr/>
          <p:nvPr/>
        </p:nvSpPr>
        <p:spPr>
          <a:xfrm>
            <a:off x="1115568" y="1737360"/>
            <a:ext cx="100584" cy="100584"/>
          </a:xfrm>
          <a:prstGeom prst="ellipse">
            <a:avLst/>
          </a:prstGeom>
          <a:solidFill>
            <a:srgbClr val="9FE8C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984248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F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RANK()       OVER (PARTITION BY department ORDER BY salary DESC) AS rnk,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F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DENSE_RANK() OVER (PARTITION BY department ORDER BY salary DESC) AS dense_rnk,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F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ROW_NUMBER() OVER (PARTITION BY department ORDER BY salary DESC) AS row_num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4612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194560"/>
                <a:gridCol w="1645920"/>
                <a:gridCol w="1280160"/>
                <a:gridCol w="1737360"/>
                <a:gridCol w="146304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emp_name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dense_rnk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row_num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Vikram Singh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Arjun Rao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 Nair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Rohan Mehta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Aditi Sharma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534924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EAF6F5"/>
          </a:solidFill>
          <a:ln w="12700">
            <a:solidFill>
              <a:srgbClr val="1FBFB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5349240"/>
            <a:ext cx="10607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when teaching live: temporarily set two salaries equal in your own dataset and re-run this query — RANK visibly skips a number right after the tie, while DENSE_RANK doesn't. That's the one distinction learners always ask about.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C · Window Functions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Demo: LEAD / LAG &amp; Running Totals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Row-to-row comparisons and cumulative sums — no self-join required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691640"/>
          </a:xfrm>
          <a:prstGeom prst="roundRect">
            <a:avLst>
              <a:gd name="adj" fmla="val 4324"/>
            </a:avLst>
          </a:prstGeom>
          <a:solidFill>
            <a:srgbClr val="0B2545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737360"/>
            <a:ext cx="100584" cy="100584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737360"/>
            <a:ext cx="100584" cy="100584"/>
          </a:xfrm>
          <a:prstGeom prst="ellipse">
            <a:avLst/>
          </a:prstGeom>
          <a:solidFill>
            <a:srgbClr val="1FBFB8"/>
          </a:solidFill>
          <a:ln/>
        </p:spPr>
      </p:sp>
      <p:sp>
        <p:nvSpPr>
          <p:cNvPr id="7" name="Shape 5"/>
          <p:cNvSpPr/>
          <p:nvPr/>
        </p:nvSpPr>
        <p:spPr>
          <a:xfrm>
            <a:off x="1115568" y="1737360"/>
            <a:ext cx="100584" cy="100584"/>
          </a:xfrm>
          <a:prstGeom prst="ellipse">
            <a:avLst/>
          </a:prstGeom>
          <a:solidFill>
            <a:srgbClr val="9FE8C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984248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F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emp_id, sale_date, sale_amount,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F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LAG(sale_amount)  OVER (PARTITION BY emp_id ORDER BY sale_date) AS prev_sale,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F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SUM(sale_amount)  OVER (PARTITION BY emp_id ORDER BY sale_date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F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ROWS BETWEEN UNBOUNDED PRECEDING AND CURRENT ROW) AS running_total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F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sales;</a:t>
            </a:r>
            <a:endParaRPr lang="en-US" sz="12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20440"/>
          <a:ext cx="110642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377440"/>
                <a:gridCol w="2286000"/>
                <a:gridCol w="2286000"/>
                <a:gridCol w="256032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emp_id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sale_date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sale_amount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prev_sale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running_total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2024-01-05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2024-02-10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2024-03-08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507492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EF3E2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51663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77240" y="544068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prev_sale lets us see change month-over-month without a manual self-join.</a:t>
            </a:r>
            <a:endParaRPr lang="en-US" sz="11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running_total shows cumulative performance over time — the basis of a growth chart.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C · Window Functions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Recap: Which Tool, When?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tools, three distinct jobs — all queryable on the same dataset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393192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3611880" cy="594360"/>
          </a:xfrm>
          <a:prstGeom prst="roundRect">
            <a:avLst>
              <a:gd name="adj" fmla="val 15385"/>
            </a:avLst>
          </a:prstGeom>
          <a:solidFill>
            <a:srgbClr val="1FBFB8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91640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rows from 2+ tables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61188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it answers: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886200"/>
            <a:ext cx="3246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"Show me employee AND their sales together."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89120" y="1691640"/>
            <a:ext cx="3611880" cy="393192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1691640"/>
            <a:ext cx="3611880" cy="594360"/>
          </a:xfrm>
          <a:prstGeom prst="roundRect">
            <a:avLst>
              <a:gd name="adj" fmla="val 15385"/>
            </a:avLst>
          </a:prstGeom>
          <a:solidFill>
            <a:srgbClr val="F2A541"/>
          </a:solidFill>
          <a:ln/>
        </p:spPr>
      </p:sp>
      <p:sp>
        <p:nvSpPr>
          <p:cNvPr id="13" name="Text 11"/>
          <p:cNvSpPr/>
          <p:nvPr/>
        </p:nvSpPr>
        <p:spPr>
          <a:xfrm>
            <a:off x="4526280" y="1691640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WHEN + Agg.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0" y="246888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274320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if/else business logic, then summarize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0" y="361188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it answers: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0" y="3886200"/>
            <a:ext cx="3246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many High vs Entry earners per dept?"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0" y="1691640"/>
            <a:ext cx="3611880" cy="393192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0" y="1691640"/>
            <a:ext cx="3611880" cy="594360"/>
          </a:xfrm>
          <a:prstGeom prst="roundRect">
            <a:avLst>
              <a:gd name="adj" fmla="val 15385"/>
            </a:avLst>
          </a:prstGeom>
          <a:solidFill>
            <a:srgbClr val="1FBFB8"/>
          </a:solidFill>
          <a:ln/>
        </p:spPr>
      </p:sp>
      <p:sp>
        <p:nvSpPr>
          <p:cNvPr id="20" name="Text 18"/>
          <p:cNvSpPr/>
          <p:nvPr/>
        </p:nvSpPr>
        <p:spPr>
          <a:xfrm>
            <a:off x="8366760" y="1691640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412480" y="246888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412480" y="274320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rows without collapsing them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412480" y="361188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it answers: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12480" y="3886200"/>
            <a:ext cx="3246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"Who's #1 in each department? What's the running total?"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4572000"/>
            <a:ext cx="3200400" cy="320040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7744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B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Hands-On Practice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3977640"/>
            <a:ext cx="6583680" cy="1280160"/>
          </a:xfrm>
          <a:prstGeom prst="roundRect">
            <a:avLst>
              <a:gd name="adj" fmla="val 5714"/>
            </a:avLst>
          </a:prstGeom>
          <a:solidFill>
            <a:srgbClr val="0B2545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4114800"/>
            <a:ext cx="100584" cy="100584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8" name="Shape 6"/>
          <p:cNvSpPr/>
          <p:nvPr/>
        </p:nvSpPr>
        <p:spPr>
          <a:xfrm>
            <a:off x="1097280" y="4114800"/>
            <a:ext cx="100584" cy="100584"/>
          </a:xfrm>
          <a:prstGeom prst="ellipse">
            <a:avLst/>
          </a:prstGeom>
          <a:solidFill>
            <a:srgbClr val="1FBFB8"/>
          </a:solidFill>
          <a:ln/>
        </p:spPr>
      </p:sp>
      <p:sp>
        <p:nvSpPr>
          <p:cNvPr id="9" name="Shape 7"/>
          <p:cNvSpPr/>
          <p:nvPr/>
        </p:nvSpPr>
        <p:spPr>
          <a:xfrm>
            <a:off x="1298448" y="4114800"/>
            <a:ext cx="100584" cy="100584"/>
          </a:xfrm>
          <a:prstGeom prst="ellipse">
            <a:avLst/>
          </a:prstGeom>
          <a:solidFill>
            <a:srgbClr val="9FE8CF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61688"/>
            <a:ext cx="6126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F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Try it yourself: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F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dql_demo.sql has the full runnable script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2026-08-15T04:55:17Z</dcterms:created>
  <dcterms:modified xsi:type="dcterms:W3CDTF">2026-08-15T04:55:17Z</dcterms:modified>
</cp:coreProperties>
</file>